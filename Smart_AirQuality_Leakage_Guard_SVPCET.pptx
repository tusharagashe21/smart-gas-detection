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image" Target="../media/image-5-4.jpg"/><Relationship Id="rId5" Type="http://schemas.openxmlformats.org/officeDocument/2006/relationships/image" Target="../media/image-5-5.jpg"/><Relationship Id="rId6" Type="http://schemas.openxmlformats.org/officeDocument/2006/relationships/image" Target="../media/image-5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8E0"/>
          </a:solidFill>
          <a:ln/>
        </p:spPr>
      </p:sp>
      <p:pic>
        <p:nvPicPr>
          <p:cNvPr id="3" name="Image 0" descr="/home/claude/pdf_imgs/img-0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82880"/>
            <a:ext cx="1371600" cy="13716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74320" y="228600"/>
            <a:ext cx="3840480" cy="38404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5" name="Text 2"/>
          <p:cNvSpPr/>
          <p:nvPr/>
        </p:nvSpPr>
        <p:spPr>
          <a:xfrm>
            <a:off x="274320" y="2286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8E0"/>
                </a:solidFill>
              </a:rPr>
              <a:t>Dept. of Industrial IoT  |  SVPCET, Nagpur  |  2025-26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274320" y="822960"/>
            <a:ext cx="6949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100" kern="0" dirty="0">
                <a:solidFill>
                  <a:srgbClr val="00C8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INDUSTRIAL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274320" y="1536192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AIR QUALITY &amp;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LEAKAGE GUARD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274320" y="260604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C8E0"/>
                </a:solidFill>
              </a:rPr>
              <a:t>IoT-Based Gas Detection &amp; Alert System using ESP32 + MQ2 + MQ135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920240"/>
            <a:ext cx="1097280" cy="10972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74320" y="3090672"/>
            <a:ext cx="8595360" cy="1783080"/>
          </a:xfrm>
          <a:prstGeom prst="rect">
            <a:avLst/>
          </a:prstGeom>
          <a:solidFill>
            <a:srgbClr val="132B4A"/>
          </a:solidFill>
          <a:ln/>
        </p:spPr>
      </p:sp>
      <p:sp>
        <p:nvSpPr>
          <p:cNvPr id="11" name="Shape 7"/>
          <p:cNvSpPr/>
          <p:nvPr/>
        </p:nvSpPr>
        <p:spPr>
          <a:xfrm>
            <a:off x="274320" y="3090672"/>
            <a:ext cx="64008" cy="178308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12" name="Text 8"/>
          <p:cNvSpPr/>
          <p:nvPr/>
        </p:nvSpPr>
        <p:spPr>
          <a:xfrm>
            <a:off x="457200" y="3200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B3D3"/>
                </a:solidFill>
              </a:rPr>
              <a:t>Submitted By: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57200" y="3520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Yug Ramteke (25109002)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7200" y="38679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Vaibhav Ghode (25109004)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572000" y="3520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Tushar Agashe (25109006)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572000" y="38679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Parth Janai (25109007)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57200" y="468172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E0"/>
                </a:solidFill>
              </a:rPr>
              <a:t>Guide: Prof. Tushar Aneyrao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572000" y="468172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8E0"/>
                </a:solidFill>
              </a:rPr>
              <a:t>HOD: Dr. M. Shriraghavan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8E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Abstract &amp; Introduction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5029200" cy="4041648"/>
          </a:xfrm>
          <a:prstGeom prst="rect">
            <a:avLst/>
          </a:prstGeom>
          <a:solidFill>
            <a:srgbClr val="132B4A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54864" cy="4041648"/>
          </a:xfrm>
          <a:prstGeom prst="rect">
            <a:avLst/>
          </a:prstGeom>
          <a:solidFill>
            <a:srgbClr val="00C8E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8E0"/>
                </a:solidFill>
              </a:rPr>
              <a:t>Abstract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316736"/>
            <a:ext cx="46634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6EAF8"/>
                </a:solidFill>
              </a:rPr>
              <a:t>Industrial environments face severe risks from hazardous gas leakages such as LPG, methane, CO and smoke. This project presents a Smart Industrial Air Quality and Leakage Guard using ESP32, MQ2 and MQ135 sensors. The system continuously monitors gas concentration, displays real-time values on a 16×2 LCD and triggers a buzzer alarm when levels exceed safe thresholds. Using ESP32's Wi-Fi, the system can send Telegram alerts and report data remotely, making it a cost-effective, reliable solution for industrial safety.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577840" y="822960"/>
            <a:ext cx="3291840" cy="8686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9" name="Shape 7"/>
          <p:cNvSpPr/>
          <p:nvPr/>
        </p:nvSpPr>
        <p:spPr>
          <a:xfrm>
            <a:off x="5577840" y="822960"/>
            <a:ext cx="3291840" cy="45720"/>
          </a:xfrm>
          <a:prstGeom prst="rect">
            <a:avLst/>
          </a:prstGeom>
          <a:solidFill>
            <a:srgbClr val="00C8E0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0" y="9144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8E0"/>
                </a:solidFill>
              </a:rPr>
              <a:t>MQ2 + MQ135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669280" y="12984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8E0"/>
                </a:solidFill>
              </a:rPr>
              <a:t>Dual Sensors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577840" y="1847088"/>
            <a:ext cx="3291840" cy="8686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3" name="Shape 11"/>
          <p:cNvSpPr/>
          <p:nvPr/>
        </p:nvSpPr>
        <p:spPr>
          <a:xfrm>
            <a:off x="5577840" y="1847088"/>
            <a:ext cx="3291840" cy="45720"/>
          </a:xfrm>
          <a:prstGeom prst="rect">
            <a:avLst/>
          </a:prstGeom>
          <a:solidFill>
            <a:srgbClr val="00D68F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0" y="193852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68F"/>
                </a:solidFill>
              </a:rPr>
              <a:t>ESP32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69280" y="232257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8E0"/>
                </a:solidFill>
              </a:rPr>
              <a:t>Microcontroller (WiFi/BT)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577840" y="2871216"/>
            <a:ext cx="3291840" cy="8686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7" name="Shape 15"/>
          <p:cNvSpPr/>
          <p:nvPr/>
        </p:nvSpPr>
        <p:spPr>
          <a:xfrm>
            <a:off x="5577840" y="2871216"/>
            <a:ext cx="3291840" cy="4572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0" y="296265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C00"/>
                </a:solidFill>
              </a:rPr>
              <a:t>16×2 LCD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669280" y="33467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8E0"/>
                </a:solidFill>
              </a:rPr>
              <a:t>Real-Time Display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577840" y="3895344"/>
            <a:ext cx="3291840" cy="8686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1" name="Shape 19"/>
          <p:cNvSpPr/>
          <p:nvPr/>
        </p:nvSpPr>
        <p:spPr>
          <a:xfrm>
            <a:off x="5577840" y="3895344"/>
            <a:ext cx="3291840" cy="457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0" y="398678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3946"/>
                </a:solidFill>
              </a:rPr>
              <a:t>Buzzer + Telegram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669280" y="43708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8E0"/>
                </a:solidFill>
              </a:rPr>
              <a:t>Alert Mechanisms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C8E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68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 &amp; Block Diagram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3200400" cy="4041648"/>
          </a:xfrm>
          <a:prstGeom prst="rect">
            <a:avLst/>
          </a:prstGeom>
          <a:solidFill>
            <a:srgbClr val="132B4A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04672"/>
            <a:ext cx="54864" cy="4041648"/>
          </a:xfrm>
          <a:prstGeom prst="rect">
            <a:avLst/>
          </a:prstGeom>
          <a:solidFill>
            <a:srgbClr val="00D68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77824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68F"/>
                </a:solidFill>
              </a:rPr>
              <a:t>System Architecture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E0"/>
                </a:solidFill>
              </a:rPr>
              <a:t>INPUT UNIT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18488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</a:rPr>
              <a:t>MQ2 detects LPG, methane, hydrogen &amp; smoke. MQ135 monitors NH3, NOx, benzene &amp; CO2 — providing continuous analog signals to ESP32.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E0"/>
                </a:solidFill>
              </a:rPr>
              <a:t>PROCESSING UNIT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761488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</a:rPr>
              <a:t>ESP32 (dual-core 32-bit MCU) reads ADC values, converts to PPM and compares with preset safe threshold limits every second.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611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E0"/>
                </a:solidFill>
              </a:rPr>
              <a:t>OUTPUT UNIT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904488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</a:rPr>
              <a:t>16×2 LCD displays live gas values &amp; status. Buzzer triggers on threshold breach. Telegram alert sent via Wi-Fi for remote notification.</a:t>
            </a:r>
            <a:endParaRPr lang="en-US" sz="1050" dirty="0"/>
          </a:p>
        </p:txBody>
      </p:sp>
      <p:pic>
        <p:nvPicPr>
          <p:cNvPr id="13" name="Image 0" descr="/home/claude/pdf_imgs/img-0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3320" y="804672"/>
            <a:ext cx="5166360" cy="283464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3703320" y="3703320"/>
            <a:ext cx="5166360" cy="111556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5" name="Text 12"/>
          <p:cNvSpPr/>
          <p:nvPr/>
        </p:nvSpPr>
        <p:spPr>
          <a:xfrm>
            <a:off x="3794760" y="3730752"/>
            <a:ext cx="4983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8C8E0"/>
                </a:solidFill>
              </a:rPr>
              <a:t>Power → ESP32 ← MQ2 (Gas/Leak) + MQ135 (Air Quality) → LCD Display + Buzzer Alarm + Telegram Alert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D68F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Flowchart &amp; Algorithm</a:t>
            </a:r>
            <a:endParaRPr lang="en-US" sz="2800" dirty="0"/>
          </a:p>
        </p:txBody>
      </p:sp>
      <p:pic>
        <p:nvPicPr>
          <p:cNvPr id="4" name="Image 0" descr="/home/claude/pdf_imgs/img-00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04672"/>
            <a:ext cx="292608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429000" y="804672"/>
            <a:ext cx="5440680" cy="4114800"/>
          </a:xfrm>
          <a:prstGeom prst="rect">
            <a:avLst/>
          </a:prstGeom>
          <a:solidFill>
            <a:srgbClr val="132B4A"/>
          </a:solidFill>
          <a:ln/>
        </p:spPr>
      </p:sp>
      <p:sp>
        <p:nvSpPr>
          <p:cNvPr id="6" name="Shape 3"/>
          <p:cNvSpPr/>
          <p:nvPr/>
        </p:nvSpPr>
        <p:spPr>
          <a:xfrm>
            <a:off x="3429000" y="804672"/>
            <a:ext cx="54864" cy="411480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7" name="Text 4"/>
          <p:cNvSpPr/>
          <p:nvPr/>
        </p:nvSpPr>
        <p:spPr>
          <a:xfrm>
            <a:off x="3611880" y="877824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C00"/>
                </a:solidFill>
              </a:rPr>
              <a:t>Step-by-Step Algorithm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11880" y="1298448"/>
            <a:ext cx="402336" cy="402336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9" name="Text 6"/>
          <p:cNvSpPr/>
          <p:nvPr/>
        </p:nvSpPr>
        <p:spPr>
          <a:xfrm>
            <a:off x="3611880" y="1298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01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114800" y="12984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Initialize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114800" y="1499616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8E0"/>
                </a:solidFill>
              </a:rPr>
              <a:t>ESP32 boots up → initializes MQ2, MQ135 sensors and 16×2 LCD display.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611880" y="1874520"/>
            <a:ext cx="402336" cy="402336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13" name="Text 10"/>
          <p:cNvSpPr/>
          <p:nvPr/>
        </p:nvSpPr>
        <p:spPr>
          <a:xfrm>
            <a:off x="3611880" y="1874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114800" y="1874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Set Thresholds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114800" y="2075688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8E0"/>
                </a:solidFill>
              </a:rPr>
              <a:t>Define safe PPM limits: MQ2 threshold = 100, MQ135 threshold = 50000.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611880" y="2450592"/>
            <a:ext cx="402336" cy="402336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17" name="Text 14"/>
          <p:cNvSpPr/>
          <p:nvPr/>
        </p:nvSpPr>
        <p:spPr>
          <a:xfrm>
            <a:off x="3611880" y="2450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03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114800" y="24505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Read Sensors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114800" y="265176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8E0"/>
                </a:solidFill>
              </a:rPr>
              <a:t>Continuously read analog ADC values from both sensors every 1 second.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611880" y="3026664"/>
            <a:ext cx="402336" cy="402336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21" name="Text 18"/>
          <p:cNvSpPr/>
          <p:nvPr/>
        </p:nvSpPr>
        <p:spPr>
          <a:xfrm>
            <a:off x="3611880" y="3026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04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114800" y="30266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Display Values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114800" y="3227832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8E0"/>
                </a:solidFill>
              </a:rPr>
              <a:t>Show MQ2 and MQ135 live readings on LCD Row 1 &amp; Row 2 respectively.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611880" y="3602736"/>
            <a:ext cx="402336" cy="402336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25" name="Text 22"/>
          <p:cNvSpPr/>
          <p:nvPr/>
        </p:nvSpPr>
        <p:spPr>
          <a:xfrm>
            <a:off x="3611880" y="3602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05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114800" y="36027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Check Conditions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114800" y="3803904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8E0"/>
                </a:solidFill>
              </a:rPr>
              <a:t>Compare values vs thresholds. If exceeded → trigger buzzer + LED alert.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3611880" y="4178808"/>
            <a:ext cx="402336" cy="402336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29" name="Text 26"/>
          <p:cNvSpPr/>
          <p:nvPr/>
        </p:nvSpPr>
        <p:spPr>
          <a:xfrm>
            <a:off x="3611880" y="4178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06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114800" y="41788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Send Alert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114800" y="4379976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8E0"/>
                </a:solidFill>
              </a:rPr>
              <a:t>ESP32 sends Telegram message with gas values &amp; status every 10 seconds.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8C0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8E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Hardware Components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206240" cy="1261872"/>
          </a:xfrm>
          <a:prstGeom prst="rect">
            <a:avLst/>
          </a:prstGeom>
          <a:solidFill>
            <a:srgbClr val="132B4A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4206240" cy="45720"/>
          </a:xfrm>
          <a:prstGeom prst="rect">
            <a:avLst/>
          </a:prstGeom>
          <a:solidFill>
            <a:srgbClr val="00D68F"/>
          </a:solidFill>
          <a:ln/>
        </p:spPr>
      </p:sp>
      <p:pic>
        <p:nvPicPr>
          <p:cNvPr id="6" name="Image 0" descr="/home/claude/pdf_imgs/img-006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96012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93268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68F"/>
                </a:solidFill>
              </a:rPr>
              <a:t>ESP32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17320" y="1298448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</a:rPr>
              <a:t>Dual-core MCU with WiFi &amp; BT. Main processing unit.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36592" y="822960"/>
            <a:ext cx="4206240" cy="1261872"/>
          </a:xfrm>
          <a:prstGeom prst="rect">
            <a:avLst/>
          </a:prstGeom>
          <a:solidFill>
            <a:srgbClr val="132B4A"/>
          </a:solidFill>
          <a:ln/>
        </p:spPr>
      </p:sp>
      <p:sp>
        <p:nvSpPr>
          <p:cNvPr id="10" name="Shape 7"/>
          <p:cNvSpPr/>
          <p:nvPr/>
        </p:nvSpPr>
        <p:spPr>
          <a:xfrm>
            <a:off x="4736592" y="822960"/>
            <a:ext cx="4206240" cy="45720"/>
          </a:xfrm>
          <a:prstGeom prst="rect">
            <a:avLst/>
          </a:prstGeom>
          <a:solidFill>
            <a:srgbClr val="E63946"/>
          </a:solidFill>
          <a:ln/>
        </p:spPr>
      </p:sp>
      <p:pic>
        <p:nvPicPr>
          <p:cNvPr id="11" name="Image 1" descr="/home/claude/pdf_imgs/img-004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28032" y="960120"/>
            <a:ext cx="914400" cy="9144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79592" y="93268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3946"/>
                </a:solidFill>
              </a:rPr>
              <a:t>MQ2 Sensor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879592" y="1298448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</a:rPr>
              <a:t>Detects LPG, smoke, methane, hydrogen, alcohol.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274320" y="2240280"/>
            <a:ext cx="4206240" cy="1261872"/>
          </a:xfrm>
          <a:prstGeom prst="rect">
            <a:avLst/>
          </a:prstGeom>
          <a:solidFill>
            <a:srgbClr val="132B4A"/>
          </a:solidFill>
          <a:ln/>
        </p:spPr>
      </p:sp>
      <p:sp>
        <p:nvSpPr>
          <p:cNvPr id="15" name="Shape 11"/>
          <p:cNvSpPr/>
          <p:nvPr/>
        </p:nvSpPr>
        <p:spPr>
          <a:xfrm>
            <a:off x="274320" y="2240280"/>
            <a:ext cx="4206240" cy="45720"/>
          </a:xfrm>
          <a:prstGeom prst="rect">
            <a:avLst/>
          </a:prstGeom>
          <a:solidFill>
            <a:srgbClr val="00C8E0"/>
          </a:solidFill>
          <a:ln/>
        </p:spPr>
      </p:sp>
      <p:pic>
        <p:nvPicPr>
          <p:cNvPr id="16" name="Image 2" descr="/home/claude/pdf_imgs/img-005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65760" y="2377440"/>
            <a:ext cx="914400" cy="9144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235000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8E0"/>
                </a:solidFill>
              </a:rPr>
              <a:t>MQ135 Sensor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417320" y="2715768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</a:rPr>
              <a:t>Detects NH3, NOx, benzene, CO2 — overall AQI.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36592" y="2240280"/>
            <a:ext cx="4206240" cy="1261872"/>
          </a:xfrm>
          <a:prstGeom prst="rect">
            <a:avLst/>
          </a:prstGeom>
          <a:solidFill>
            <a:srgbClr val="132B4A"/>
          </a:solidFill>
          <a:ln/>
        </p:spPr>
      </p:sp>
      <p:sp>
        <p:nvSpPr>
          <p:cNvPr id="20" name="Shape 15"/>
          <p:cNvSpPr/>
          <p:nvPr/>
        </p:nvSpPr>
        <p:spPr>
          <a:xfrm>
            <a:off x="4736592" y="2240280"/>
            <a:ext cx="4206240" cy="45720"/>
          </a:xfrm>
          <a:prstGeom prst="rect">
            <a:avLst/>
          </a:prstGeom>
          <a:solidFill>
            <a:srgbClr val="00C8E0"/>
          </a:solidFill>
          <a:ln/>
        </p:spPr>
      </p:sp>
      <p:pic>
        <p:nvPicPr>
          <p:cNvPr id="21" name="Image 3" descr="/home/claude/pdf_imgs/img-007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828032" y="2377440"/>
            <a:ext cx="914400" cy="9144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879592" y="235000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8E0"/>
                </a:solidFill>
              </a:rPr>
              <a:t>16×2 LCD Display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879592" y="2715768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</a:rPr>
              <a:t>Shows real-time gas values and SAFE/DANGER status.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274320" y="3657600"/>
            <a:ext cx="4206240" cy="1261872"/>
          </a:xfrm>
          <a:prstGeom prst="rect">
            <a:avLst/>
          </a:prstGeom>
          <a:solidFill>
            <a:srgbClr val="132B4A"/>
          </a:solidFill>
          <a:ln/>
        </p:spPr>
      </p:sp>
      <p:sp>
        <p:nvSpPr>
          <p:cNvPr id="25" name="Shape 19"/>
          <p:cNvSpPr/>
          <p:nvPr/>
        </p:nvSpPr>
        <p:spPr>
          <a:xfrm>
            <a:off x="274320" y="3657600"/>
            <a:ext cx="4206240" cy="45720"/>
          </a:xfrm>
          <a:prstGeom prst="rect">
            <a:avLst/>
          </a:prstGeom>
          <a:solidFill>
            <a:srgbClr val="FF8C00"/>
          </a:solidFill>
          <a:ln/>
        </p:spPr>
      </p:sp>
      <p:pic>
        <p:nvPicPr>
          <p:cNvPr id="26" name="Image 4" descr="/home/claude/pdf_imgs/img-008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65760" y="3794760"/>
            <a:ext cx="914400" cy="9144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376732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C00"/>
                </a:solidFill>
              </a:rPr>
              <a:t>Buzzer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1417320" y="4133088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</a:rPr>
              <a:t>Active piezo buzzer — instant alert on gas detection.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4736592" y="3657600"/>
            <a:ext cx="4206240" cy="1261872"/>
          </a:xfrm>
          <a:prstGeom prst="rect">
            <a:avLst/>
          </a:prstGeom>
          <a:solidFill>
            <a:srgbClr val="132B4A"/>
          </a:solidFill>
          <a:ln/>
        </p:spPr>
      </p:sp>
      <p:sp>
        <p:nvSpPr>
          <p:cNvPr id="30" name="Shape 23"/>
          <p:cNvSpPr/>
          <p:nvPr/>
        </p:nvSpPr>
        <p:spPr>
          <a:xfrm>
            <a:off x="4736592" y="3657600"/>
            <a:ext cx="4206240" cy="45720"/>
          </a:xfrm>
          <a:prstGeom prst="rect">
            <a:avLst/>
          </a:prstGeom>
          <a:solidFill>
            <a:srgbClr val="00D68F"/>
          </a:solidFill>
          <a:ln/>
        </p:spPr>
      </p:sp>
      <p:pic>
        <p:nvPicPr>
          <p:cNvPr id="31" name="Image 5" descr="/home/claude/pdf_imgs/img-009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828032" y="3794760"/>
            <a:ext cx="914400" cy="9144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879592" y="376732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68F"/>
                </a:solidFill>
              </a:rPr>
              <a:t>Breadboard + PCB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5879592" y="4133088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</a:rPr>
              <a:t>0-size PCB for compact final industrial deployment.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C8E0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68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Circuit Diagram &amp; Project Output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2560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822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8E0"/>
                </a:solidFill>
              </a:rPr>
              <a:t>Circuit Diagram (Simulation)</a:t>
            </a:r>
            <a:endParaRPr lang="en-US" sz="1100" dirty="0"/>
          </a:p>
        </p:txBody>
      </p:sp>
      <p:pic>
        <p:nvPicPr>
          <p:cNvPr id="6" name="Image 0" descr="/home/claude/pdf_imgs/img-01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115568"/>
            <a:ext cx="4023360" cy="22128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0" y="822960"/>
            <a:ext cx="4251960" cy="2560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0" y="822960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8E0"/>
                </a:solidFill>
              </a:rPr>
              <a:t>Actual Hardware Testing</a:t>
            </a:r>
            <a:endParaRPr lang="en-US" sz="1100" dirty="0"/>
          </a:p>
        </p:txBody>
      </p:sp>
      <p:pic>
        <p:nvPicPr>
          <p:cNvPr id="9" name="Image 1" descr="/home/claude/pdf_imgs/img-012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17720" y="1115568"/>
            <a:ext cx="4160520" cy="221284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74320" y="3547872"/>
            <a:ext cx="4114800" cy="13716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1" name="Text 7"/>
          <p:cNvSpPr/>
          <p:nvPr/>
        </p:nvSpPr>
        <p:spPr>
          <a:xfrm>
            <a:off x="274320" y="35478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8E0"/>
                </a:solidFill>
              </a:rPr>
              <a:t>LCD Output (MQ2:100 / MQ135:2498 SAFE)</a:t>
            </a:r>
            <a:endParaRPr lang="en-US" sz="1100" dirty="0"/>
          </a:p>
        </p:txBody>
      </p:sp>
      <p:pic>
        <p:nvPicPr>
          <p:cNvPr id="12" name="Image 2" descr="/home/claude/pdf_imgs/img-013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20040" y="3840480"/>
            <a:ext cx="4023360" cy="102412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572000" y="3547872"/>
            <a:ext cx="4251960" cy="1371600"/>
          </a:xfrm>
          <a:prstGeom prst="rect">
            <a:avLst/>
          </a:prstGeom>
          <a:solidFill>
            <a:srgbClr val="132B4A"/>
          </a:solidFill>
          <a:ln/>
        </p:spPr>
      </p:sp>
      <p:sp>
        <p:nvSpPr>
          <p:cNvPr id="14" name="Text 9"/>
          <p:cNvSpPr/>
          <p:nvPr/>
        </p:nvSpPr>
        <p:spPr>
          <a:xfrm>
            <a:off x="4663440" y="359359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68F"/>
                </a:solidFill>
              </a:rPr>
              <a:t>Key Observations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4663440" y="3895344"/>
            <a:ext cx="40233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6EAF8"/>
                </a:solidFill>
              </a:rPr>
              <a:t>MQ2 responded instantly to smoke/LPG exposure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6EAF8"/>
                </a:solidFill>
              </a:rPr>
              <a:t>LCD showed real-time PPM values without lag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6EAF8"/>
                </a:solidFill>
              </a:rPr>
              <a:t>Buzzer triggered within &lt;1 sec of threshold breach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6EAF8"/>
                </a:solidFill>
              </a:rPr>
              <a:t>System ran continuously and stably for full test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D68F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8E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Applications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64592"/>
            <a:ext cx="1005840" cy="1005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822960"/>
            <a:ext cx="4206240" cy="1261872"/>
          </a:xfrm>
          <a:prstGeom prst="rect">
            <a:avLst/>
          </a:prstGeom>
          <a:solidFill>
            <a:srgbClr val="132B4A"/>
          </a:solidFill>
          <a:ln/>
        </p:spPr>
      </p:sp>
      <p:sp>
        <p:nvSpPr>
          <p:cNvPr id="6" name="Shape 3"/>
          <p:cNvSpPr/>
          <p:nvPr/>
        </p:nvSpPr>
        <p:spPr>
          <a:xfrm>
            <a:off x="274320" y="822960"/>
            <a:ext cx="54864" cy="1261872"/>
          </a:xfrm>
          <a:prstGeom prst="rect">
            <a:avLst/>
          </a:prstGeom>
          <a:solidFill>
            <a:srgbClr val="00C8E0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097280"/>
            <a:ext cx="566928" cy="5669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3000" y="9144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E0"/>
                </a:solidFill>
              </a:rPr>
              <a:t>Chemical Industries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143000" y="1280160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</a:rPr>
              <a:t>Monitor toxic &amp; flammable gas levels in chemical plants, oil refineries, and petroleum units.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709160" y="822960"/>
            <a:ext cx="4206240" cy="1261872"/>
          </a:xfrm>
          <a:prstGeom prst="rect">
            <a:avLst/>
          </a:prstGeom>
          <a:solidFill>
            <a:srgbClr val="132B4A"/>
          </a:solidFill>
          <a:ln/>
        </p:spPr>
      </p:sp>
      <p:sp>
        <p:nvSpPr>
          <p:cNvPr id="11" name="Shape 7"/>
          <p:cNvSpPr/>
          <p:nvPr/>
        </p:nvSpPr>
        <p:spPr>
          <a:xfrm>
            <a:off x="4709160" y="822960"/>
            <a:ext cx="54864" cy="1261872"/>
          </a:xfrm>
          <a:prstGeom prst="rect">
            <a:avLst/>
          </a:prstGeom>
          <a:solidFill>
            <a:srgbClr val="00D68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752" y="1097280"/>
            <a:ext cx="566928" cy="56692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577840" y="9144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68F"/>
                </a:solidFill>
              </a:rPr>
              <a:t>Hospitals &amp; Labs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5577840" y="1280160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</a:rPr>
              <a:t>Detect anesthetic gas leaks, ETO sterilization gas, and maintain safe air quality in labs.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274320" y="2240280"/>
            <a:ext cx="4206240" cy="1261872"/>
          </a:xfrm>
          <a:prstGeom prst="rect">
            <a:avLst/>
          </a:prstGeom>
          <a:solidFill>
            <a:srgbClr val="132B4A"/>
          </a:solidFill>
          <a:ln/>
        </p:spPr>
      </p:sp>
      <p:sp>
        <p:nvSpPr>
          <p:cNvPr id="16" name="Shape 11"/>
          <p:cNvSpPr/>
          <p:nvPr/>
        </p:nvSpPr>
        <p:spPr>
          <a:xfrm>
            <a:off x="274320" y="2240280"/>
            <a:ext cx="54864" cy="1261872"/>
          </a:xfrm>
          <a:prstGeom prst="rect">
            <a:avLst/>
          </a:prstGeom>
          <a:solidFill>
            <a:srgbClr val="E63946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2514600"/>
            <a:ext cx="566928" cy="56692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43000" y="23317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</a:rPr>
              <a:t>Mining Operations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143000" y="2697480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</a:rPr>
              <a:t>Alert miners to methane and CO accumulation in underground tunnels and shafts.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709160" y="2240280"/>
            <a:ext cx="4206240" cy="1261872"/>
          </a:xfrm>
          <a:prstGeom prst="rect">
            <a:avLst/>
          </a:prstGeom>
          <a:solidFill>
            <a:srgbClr val="132B4A"/>
          </a:solidFill>
          <a:ln/>
        </p:spPr>
      </p:sp>
      <p:sp>
        <p:nvSpPr>
          <p:cNvPr id="21" name="Shape 15"/>
          <p:cNvSpPr/>
          <p:nvPr/>
        </p:nvSpPr>
        <p:spPr>
          <a:xfrm>
            <a:off x="4709160" y="2240280"/>
            <a:ext cx="54864" cy="1261872"/>
          </a:xfrm>
          <a:prstGeom prst="rect">
            <a:avLst/>
          </a:prstGeom>
          <a:solidFill>
            <a:srgbClr val="FF8C00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3752" y="2514600"/>
            <a:ext cx="566928" cy="56692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577840" y="23317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C00"/>
                </a:solidFill>
              </a:rPr>
              <a:t>Gas Pipelines / LPG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5577840" y="2697480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</a:rPr>
              <a:t>Early leak detection in LPG/CNG distribution networks and domestic storage areas.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274320" y="3657600"/>
            <a:ext cx="4206240" cy="1261872"/>
          </a:xfrm>
          <a:prstGeom prst="rect">
            <a:avLst/>
          </a:prstGeom>
          <a:solidFill>
            <a:srgbClr val="132B4A"/>
          </a:solidFill>
          <a:ln/>
        </p:spPr>
      </p:sp>
      <p:sp>
        <p:nvSpPr>
          <p:cNvPr id="26" name="Shape 19"/>
          <p:cNvSpPr/>
          <p:nvPr/>
        </p:nvSpPr>
        <p:spPr>
          <a:xfrm>
            <a:off x="274320" y="3657600"/>
            <a:ext cx="54864" cy="1261872"/>
          </a:xfrm>
          <a:prstGeom prst="rect">
            <a:avLst/>
          </a:prstGeom>
          <a:solidFill>
            <a:srgbClr val="00C8E0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" y="3931920"/>
            <a:ext cx="566928" cy="56692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143000" y="37490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E0"/>
                </a:solidFill>
              </a:rPr>
              <a:t>Smart Buildings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1143000" y="4114800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</a:rPr>
              <a:t>Indoor AQI monitoring in offices, schools and public spaces (CO2, VOCs, smoke).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4709160" y="3657600"/>
            <a:ext cx="4206240" cy="1261872"/>
          </a:xfrm>
          <a:prstGeom prst="rect">
            <a:avLst/>
          </a:prstGeom>
          <a:solidFill>
            <a:srgbClr val="132B4A"/>
          </a:solidFill>
          <a:ln/>
        </p:spPr>
      </p:sp>
      <p:sp>
        <p:nvSpPr>
          <p:cNvPr id="31" name="Shape 23"/>
          <p:cNvSpPr/>
          <p:nvPr/>
        </p:nvSpPr>
        <p:spPr>
          <a:xfrm>
            <a:off x="4709160" y="3657600"/>
            <a:ext cx="54864" cy="1261872"/>
          </a:xfrm>
          <a:prstGeom prst="rect">
            <a:avLst/>
          </a:prstGeom>
          <a:solidFill>
            <a:srgbClr val="00D68F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3752" y="3931920"/>
            <a:ext cx="566928" cy="566928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5577840" y="37490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68F"/>
                </a:solidFill>
              </a:rPr>
              <a:t>Food &amp; Cold Storage</a:t>
            </a:r>
            <a:endParaRPr lang="en-US" sz="1300" dirty="0"/>
          </a:p>
        </p:txBody>
      </p:sp>
      <p:sp>
        <p:nvSpPr>
          <p:cNvPr id="34" name="Text 25"/>
          <p:cNvSpPr/>
          <p:nvPr/>
        </p:nvSpPr>
        <p:spPr>
          <a:xfrm>
            <a:off x="5577840" y="4114800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</a:rPr>
              <a:t>Detect ammonia refrigerant leaks in cold storage units and food manufacturing plants.</a:t>
            </a:r>
            <a:endParaRPr lang="en-US" sz="1100" dirty="0"/>
          </a:p>
        </p:txBody>
      </p:sp>
      <p:sp>
        <p:nvSpPr>
          <p:cNvPr id="35" name="Shape 26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C8E0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8E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Advantages &amp; Disadvantages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60520" cy="4114800"/>
          </a:xfrm>
          <a:prstGeom prst="rect">
            <a:avLst/>
          </a:prstGeom>
          <a:solidFill>
            <a:srgbClr val="132B4A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4160520" cy="45720"/>
          </a:xfrm>
          <a:prstGeom prst="rect">
            <a:avLst/>
          </a:prstGeom>
          <a:solidFill>
            <a:srgbClr val="00D68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896112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914400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68F"/>
                </a:solidFill>
              </a:rPr>
              <a:t>ADVANTAGES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38912" y="1444752"/>
            <a:ext cx="292608" cy="292608"/>
          </a:xfrm>
          <a:prstGeom prst="rect">
            <a:avLst/>
          </a:prstGeom>
          <a:solidFill>
            <a:srgbClr val="00D68F"/>
          </a:solidFill>
          <a:ln/>
        </p:spPr>
      </p:sp>
      <p:sp>
        <p:nvSpPr>
          <p:cNvPr id="9" name="Text 6"/>
          <p:cNvSpPr/>
          <p:nvPr/>
        </p:nvSpPr>
        <p:spPr>
          <a:xfrm>
            <a:off x="438912" y="1444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✓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144475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</a:rPr>
              <a:t>Real-time 24×7 continuous gas monitoring without manual effort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8912" y="1938528"/>
            <a:ext cx="292608" cy="292608"/>
          </a:xfrm>
          <a:prstGeom prst="rect">
            <a:avLst/>
          </a:prstGeom>
          <a:solidFill>
            <a:srgbClr val="00D68F"/>
          </a:solidFill>
          <a:ln/>
        </p:spPr>
      </p:sp>
      <p:sp>
        <p:nvSpPr>
          <p:cNvPr id="12" name="Text 9"/>
          <p:cNvSpPr/>
          <p:nvPr/>
        </p:nvSpPr>
        <p:spPr>
          <a:xfrm>
            <a:off x="438912" y="1938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✓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22960" y="193852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</a:rPr>
              <a:t>Low-cost MQ sensors + 0-size PCB — affordable for SMEs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38912" y="2432304"/>
            <a:ext cx="292608" cy="292608"/>
          </a:xfrm>
          <a:prstGeom prst="rect">
            <a:avLst/>
          </a:prstGeom>
          <a:solidFill>
            <a:srgbClr val="00D68F"/>
          </a:solidFill>
          <a:ln/>
        </p:spPr>
      </p:sp>
      <p:sp>
        <p:nvSpPr>
          <p:cNvPr id="15" name="Text 12"/>
          <p:cNvSpPr/>
          <p:nvPr/>
        </p:nvSpPr>
        <p:spPr>
          <a:xfrm>
            <a:off x="438912" y="24323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✓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22960" y="2432304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</a:rPr>
              <a:t>Dual-sensor coverage: wide range of hazardous gases detected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38912" y="2926080"/>
            <a:ext cx="292608" cy="292608"/>
          </a:xfrm>
          <a:prstGeom prst="rect">
            <a:avLst/>
          </a:prstGeom>
          <a:solidFill>
            <a:srgbClr val="00D68F"/>
          </a:solidFill>
          <a:ln/>
        </p:spPr>
      </p:sp>
      <p:sp>
        <p:nvSpPr>
          <p:cNvPr id="18" name="Text 15"/>
          <p:cNvSpPr/>
          <p:nvPr/>
        </p:nvSpPr>
        <p:spPr>
          <a:xfrm>
            <a:off x="438912" y="2926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✓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22960" y="29260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</a:rPr>
              <a:t>Instant buzzer + Telegram alert for quick emergency response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38912" y="3419856"/>
            <a:ext cx="292608" cy="292608"/>
          </a:xfrm>
          <a:prstGeom prst="rect">
            <a:avLst/>
          </a:prstGeom>
          <a:solidFill>
            <a:srgbClr val="00D68F"/>
          </a:solidFill>
          <a:ln/>
        </p:spPr>
      </p:sp>
      <p:sp>
        <p:nvSpPr>
          <p:cNvPr id="21" name="Text 18"/>
          <p:cNvSpPr/>
          <p:nvPr/>
        </p:nvSpPr>
        <p:spPr>
          <a:xfrm>
            <a:off x="438912" y="3419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✓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22960" y="3419856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</a:rPr>
              <a:t>ESP32 WiFi enables cloud integration and remote monitoring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38912" y="3913632"/>
            <a:ext cx="292608" cy="292608"/>
          </a:xfrm>
          <a:prstGeom prst="rect">
            <a:avLst/>
          </a:prstGeom>
          <a:solidFill>
            <a:srgbClr val="00D68F"/>
          </a:solidFill>
          <a:ln/>
        </p:spPr>
      </p:sp>
      <p:sp>
        <p:nvSpPr>
          <p:cNvPr id="24" name="Text 21"/>
          <p:cNvSpPr/>
          <p:nvPr/>
        </p:nvSpPr>
        <p:spPr>
          <a:xfrm>
            <a:off x="438912" y="3913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✓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22960" y="391363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</a:rPr>
              <a:t>Simple, low-maintenance, reliable long-term operation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709160" y="822960"/>
            <a:ext cx="4160520" cy="4114800"/>
          </a:xfrm>
          <a:prstGeom prst="rect">
            <a:avLst/>
          </a:prstGeom>
          <a:solidFill>
            <a:srgbClr val="132B4A"/>
          </a:solidFill>
          <a:ln/>
        </p:spPr>
      </p:sp>
      <p:sp>
        <p:nvSpPr>
          <p:cNvPr id="27" name="Shape 24"/>
          <p:cNvSpPr/>
          <p:nvPr/>
        </p:nvSpPr>
        <p:spPr>
          <a:xfrm>
            <a:off x="4709160" y="822960"/>
            <a:ext cx="4160520" cy="45720"/>
          </a:xfrm>
          <a:prstGeom prst="rect">
            <a:avLst/>
          </a:prstGeom>
          <a:solidFill>
            <a:srgbClr val="E63946"/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896112"/>
            <a:ext cx="475488" cy="475488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394960" y="914400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3946"/>
                </a:solidFill>
              </a:rPr>
              <a:t>DISADVANTAGES</a:t>
            </a:r>
            <a:endParaRPr lang="en-US" sz="1500" dirty="0"/>
          </a:p>
        </p:txBody>
      </p:sp>
      <p:sp>
        <p:nvSpPr>
          <p:cNvPr id="30" name="Shape 26"/>
          <p:cNvSpPr/>
          <p:nvPr/>
        </p:nvSpPr>
        <p:spPr>
          <a:xfrm>
            <a:off x="4873752" y="1444752"/>
            <a:ext cx="292608" cy="29260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1" name="Text 27"/>
          <p:cNvSpPr/>
          <p:nvPr/>
        </p:nvSpPr>
        <p:spPr>
          <a:xfrm>
            <a:off x="4873752" y="1444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✗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5257800" y="144475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</a:rPr>
              <a:t>MQ sensors drift over time and need periodic recalibration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4873752" y="1938528"/>
            <a:ext cx="292608" cy="29260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4" name="Text 30"/>
          <p:cNvSpPr/>
          <p:nvPr/>
        </p:nvSpPr>
        <p:spPr>
          <a:xfrm>
            <a:off x="4873752" y="1938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✗</a:t>
            </a:r>
            <a:endParaRPr lang="en-US" sz="1300" dirty="0"/>
          </a:p>
        </p:txBody>
      </p:sp>
      <p:sp>
        <p:nvSpPr>
          <p:cNvPr id="35" name="Text 31"/>
          <p:cNvSpPr/>
          <p:nvPr/>
        </p:nvSpPr>
        <p:spPr>
          <a:xfrm>
            <a:off x="5257800" y="193852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</a:rPr>
              <a:t>Cross-sensitivity may cause false alarms with similar gases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4873752" y="2432304"/>
            <a:ext cx="292608" cy="29260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7" name="Text 33"/>
          <p:cNvSpPr/>
          <p:nvPr/>
        </p:nvSpPr>
        <p:spPr>
          <a:xfrm>
            <a:off x="4873752" y="24323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✗</a:t>
            </a:r>
            <a:endParaRPr lang="en-US" sz="1300" dirty="0"/>
          </a:p>
        </p:txBody>
      </p:sp>
      <p:sp>
        <p:nvSpPr>
          <p:cNvPr id="38" name="Text 34"/>
          <p:cNvSpPr/>
          <p:nvPr/>
        </p:nvSpPr>
        <p:spPr>
          <a:xfrm>
            <a:off x="5257800" y="2432304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</a:rPr>
              <a:t>Readings affected by temperature/humidity variations</a:t>
            </a:r>
            <a:endParaRPr lang="en-US" sz="1100" dirty="0"/>
          </a:p>
        </p:txBody>
      </p:sp>
      <p:sp>
        <p:nvSpPr>
          <p:cNvPr id="39" name="Shape 35"/>
          <p:cNvSpPr/>
          <p:nvPr/>
        </p:nvSpPr>
        <p:spPr>
          <a:xfrm>
            <a:off x="4873752" y="2926080"/>
            <a:ext cx="292608" cy="29260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0" name="Text 36"/>
          <p:cNvSpPr/>
          <p:nvPr/>
        </p:nvSpPr>
        <p:spPr>
          <a:xfrm>
            <a:off x="4873752" y="2926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✗</a:t>
            </a:r>
            <a:endParaRPr lang="en-US" sz="1300" dirty="0"/>
          </a:p>
        </p:txBody>
      </p:sp>
      <p:sp>
        <p:nvSpPr>
          <p:cNvPr id="41" name="Text 37"/>
          <p:cNvSpPr/>
          <p:nvPr/>
        </p:nvSpPr>
        <p:spPr>
          <a:xfrm>
            <a:off x="5257800" y="29260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</a:rPr>
              <a:t>No built-in battery backup during power failures</a:t>
            </a:r>
            <a:endParaRPr lang="en-US" sz="1100" dirty="0"/>
          </a:p>
        </p:txBody>
      </p:sp>
      <p:sp>
        <p:nvSpPr>
          <p:cNvPr id="42" name="Shape 38"/>
          <p:cNvSpPr/>
          <p:nvPr/>
        </p:nvSpPr>
        <p:spPr>
          <a:xfrm>
            <a:off x="4873752" y="3419856"/>
            <a:ext cx="292608" cy="29260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3" name="Text 39"/>
          <p:cNvSpPr/>
          <p:nvPr/>
        </p:nvSpPr>
        <p:spPr>
          <a:xfrm>
            <a:off x="4873752" y="3419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✗</a:t>
            </a:r>
            <a:endParaRPr lang="en-US" sz="1300" dirty="0"/>
          </a:p>
        </p:txBody>
      </p:sp>
      <p:sp>
        <p:nvSpPr>
          <p:cNvPr id="44" name="Text 40"/>
          <p:cNvSpPr/>
          <p:nvPr/>
        </p:nvSpPr>
        <p:spPr>
          <a:xfrm>
            <a:off x="5257800" y="3419856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</a:rPr>
              <a:t>MQ sensors require 20–30 sec warm-up before stable readings</a:t>
            </a:r>
            <a:endParaRPr lang="en-US" sz="1100" dirty="0"/>
          </a:p>
        </p:txBody>
      </p:sp>
      <p:sp>
        <p:nvSpPr>
          <p:cNvPr id="45" name="Shape 41"/>
          <p:cNvSpPr/>
          <p:nvPr/>
        </p:nvSpPr>
        <p:spPr>
          <a:xfrm>
            <a:off x="4873752" y="3913632"/>
            <a:ext cx="292608" cy="29260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6" name="Text 42"/>
          <p:cNvSpPr/>
          <p:nvPr/>
        </p:nvSpPr>
        <p:spPr>
          <a:xfrm>
            <a:off x="4873752" y="3913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✗</a:t>
            </a:r>
            <a:endParaRPr lang="en-US" sz="1300" dirty="0"/>
          </a:p>
        </p:txBody>
      </p:sp>
      <p:sp>
        <p:nvSpPr>
          <p:cNvPr id="47" name="Text 43"/>
          <p:cNvSpPr/>
          <p:nvPr/>
        </p:nvSpPr>
        <p:spPr>
          <a:xfrm>
            <a:off x="5257800" y="391363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</a:rPr>
              <a:t>Remote monitoring needs separate app/cloud configuration</a:t>
            </a:r>
            <a:endParaRPr lang="en-US" sz="1100" dirty="0"/>
          </a:p>
        </p:txBody>
      </p:sp>
      <p:sp>
        <p:nvSpPr>
          <p:cNvPr id="48" name="Shape 4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C8E0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Scope &amp; Future Scope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60520" cy="4114800"/>
          </a:xfrm>
          <a:prstGeom prst="rect">
            <a:avLst/>
          </a:prstGeom>
          <a:solidFill>
            <a:srgbClr val="132B4A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4160520" cy="45720"/>
          </a:xfrm>
          <a:prstGeom prst="rect">
            <a:avLst/>
          </a:prstGeom>
          <a:solidFill>
            <a:srgbClr val="00C8E0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896112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8E0"/>
                </a:solidFill>
              </a:rPr>
              <a:t>Current Project Scope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298448"/>
            <a:ext cx="3840480" cy="3493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6EAF8"/>
                </a:solidFill>
              </a:rPr>
              <a:t>Local air quality monitoring with MQ2 &amp; MQ135 sensors 24×7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6EAF8"/>
                </a:solidFill>
              </a:rPr>
              <a:t>Real-time display on 16×2 LCD with SAFE / ALERT status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6EAF8"/>
                </a:solidFill>
              </a:rPr>
              <a:t>Instant buzzer alert when gas levels exceed safe thresholds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6EAF8"/>
                </a:solidFill>
              </a:rPr>
              <a:t>Telegram bot notification via ESP32 WiFi every 10 seconds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6EAF8"/>
                </a:solidFill>
              </a:rPr>
              <a:t>Compact 0-size PCB design for industrial deployment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6EAF8"/>
                </a:solidFill>
              </a:rPr>
              <a:t>Suitable for labs, workshops, factories, and LPG stores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822960"/>
            <a:ext cx="4160520" cy="4114800"/>
          </a:xfrm>
          <a:prstGeom prst="rect">
            <a:avLst/>
          </a:prstGeom>
          <a:solidFill>
            <a:srgbClr val="132B4A"/>
          </a:solidFill>
          <a:ln/>
        </p:spPr>
      </p:sp>
      <p:sp>
        <p:nvSpPr>
          <p:cNvPr id="9" name="Shape 7"/>
          <p:cNvSpPr/>
          <p:nvPr/>
        </p:nvSpPr>
        <p:spPr>
          <a:xfrm>
            <a:off x="4709160" y="822960"/>
            <a:ext cx="4160520" cy="4572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896112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C00"/>
                </a:solidFill>
              </a:rPr>
              <a:t>Future Scope</a:t>
            </a:r>
            <a:endParaRPr lang="en-US" sz="14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335024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321808" y="12984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8C00"/>
                </a:solidFill>
              </a:rPr>
              <a:t>AI/ML Prediction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321808" y="15727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8E0"/>
                </a:solidFill>
              </a:rPr>
              <a:t>Predict gas leakages from historical trends before they occur.</a:t>
            </a:r>
            <a:endParaRPr lang="en-US" sz="10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929384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21808" y="18928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8C00"/>
                </a:solidFill>
              </a:rPr>
              <a:t>Edge Computing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5321808" y="21671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8E0"/>
                </a:solidFill>
              </a:rPr>
              <a:t>Local AI on ESP32 for instant decisions even during WiFi loss.</a:t>
            </a:r>
            <a:endParaRPr lang="en-US" sz="10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523744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321808" y="2487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8C00"/>
                </a:solidFill>
              </a:rPr>
              <a:t>Auto Gas Shutoff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321808" y="27614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8E0"/>
                </a:solidFill>
              </a:rPr>
              <a:t>Interface solenoid valve to automatically stop gas on detection.</a:t>
            </a:r>
            <a:endParaRPr lang="en-US" sz="105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118104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321808" y="30815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8C00"/>
                </a:solidFill>
              </a:rPr>
              <a:t>Drone Patrol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5321808" y="335584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8E0"/>
                </a:solidFill>
              </a:rPr>
              <a:t>Mount sensors on autonomous drones to find leaks in large plants.</a:t>
            </a:r>
            <a:endParaRPr lang="en-US" sz="105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3712464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321808" y="36758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8C00"/>
                </a:solidFill>
              </a:rPr>
              <a:t>Mobile App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5321808" y="39502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8E0"/>
                </a:solidFill>
              </a:rPr>
              <a:t>Real-time dashboard with historical graphs and push notifications.</a:t>
            </a:r>
            <a:endParaRPr lang="en-US" sz="105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4306824"/>
            <a:ext cx="365760" cy="3657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321808" y="42702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8C00"/>
                </a:solidFill>
              </a:rPr>
              <a:t>Multi-Gas Sensors</a:t>
            </a:r>
            <a:endParaRPr lang="en-US" sz="1150" dirty="0"/>
          </a:p>
        </p:txBody>
      </p:sp>
      <p:sp>
        <p:nvSpPr>
          <p:cNvPr id="28" name="Text 20"/>
          <p:cNvSpPr/>
          <p:nvPr/>
        </p:nvSpPr>
        <p:spPr>
          <a:xfrm>
            <a:off x="5321808" y="45445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8E0"/>
                </a:solidFill>
              </a:rPr>
              <a:t>Add H2S, SO2, O3 sensors for comprehensive industrial coverage.</a:t>
            </a:r>
            <a:endParaRPr lang="en-US" sz="1050" dirty="0"/>
          </a:p>
        </p:txBody>
      </p:sp>
      <p:sp>
        <p:nvSpPr>
          <p:cNvPr id="29" name="Shape 2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8C0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8E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C8E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0116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C8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5029200" cy="3200400"/>
          </a:xfrm>
          <a:prstGeom prst="rect">
            <a:avLst/>
          </a:prstGeom>
          <a:solidFill>
            <a:srgbClr val="132B4A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822960"/>
            <a:ext cx="54864" cy="3200400"/>
          </a:xfrm>
          <a:prstGeom prst="rect">
            <a:avLst/>
          </a:prstGeom>
          <a:solidFill>
            <a:srgbClr val="00C8E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96112"/>
            <a:ext cx="475488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6EAF8"/>
                </a:solidFill>
              </a:rPr>
              <a:t>The Smart Industrial Air Quality and Leakage Guard successfully delivers a reliable, cost-effective, and automated gas detection solution for industrial safety.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AF8"/>
                </a:solidFill>
              </a:rPr>
              <a:t>Using ESP32 + MQ2 + MQ135, the system provides real-time air quality monitoring with immediate visual (LCD) and audio (buzzer) alerts, plus remote Telegram notifications via Wi-Fi.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AF8"/>
                </a:solidFill>
              </a:rPr>
              <a:t>The project demonstrates that affordable sensor technology can serve as a robust safety guard, minimizing human error and serving as a foundational model for Industry 4.0 safety protocols.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4114800"/>
            <a:ext cx="5029200" cy="80467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4187952"/>
            <a:ext cx="1143000" cy="65836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4187952"/>
            <a:ext cx="1143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C8E0"/>
                </a:solidFill>
              </a:rPr>
              <a:t>ESP32 MCU + WiFi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627632" y="4187952"/>
            <a:ext cx="1143000" cy="65836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2" name="Text 10"/>
          <p:cNvSpPr/>
          <p:nvPr/>
        </p:nvSpPr>
        <p:spPr>
          <a:xfrm>
            <a:off x="1627632" y="4187952"/>
            <a:ext cx="1143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C8E0"/>
                </a:solidFill>
              </a:rPr>
              <a:t>MQ2 + MQ135 Sensors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889504" y="4187952"/>
            <a:ext cx="1143000" cy="65836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4" name="Text 12"/>
          <p:cNvSpPr/>
          <p:nvPr/>
        </p:nvSpPr>
        <p:spPr>
          <a:xfrm>
            <a:off x="2889504" y="4187952"/>
            <a:ext cx="1143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C8E0"/>
                </a:solidFill>
              </a:rPr>
              <a:t>16×2 LCD Display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51376" y="4187952"/>
            <a:ext cx="1143000" cy="65836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6" name="Text 14"/>
          <p:cNvSpPr/>
          <p:nvPr/>
        </p:nvSpPr>
        <p:spPr>
          <a:xfrm>
            <a:off x="4151376" y="4187952"/>
            <a:ext cx="1143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C8E0"/>
                </a:solidFill>
              </a:rPr>
              <a:t>Buzzer + Telegram Alert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532120" y="201168"/>
            <a:ext cx="3337560" cy="4681728"/>
          </a:xfrm>
          <a:prstGeom prst="rect">
            <a:avLst/>
          </a:prstGeom>
          <a:solidFill>
            <a:srgbClr val="132B4A"/>
          </a:solidFill>
          <a:ln/>
        </p:spPr>
      </p:sp>
      <p:sp>
        <p:nvSpPr>
          <p:cNvPr id="18" name="Shape 16"/>
          <p:cNvSpPr/>
          <p:nvPr/>
        </p:nvSpPr>
        <p:spPr>
          <a:xfrm>
            <a:off x="5532120" y="201168"/>
            <a:ext cx="3337560" cy="45720"/>
          </a:xfrm>
          <a:prstGeom prst="rect">
            <a:avLst/>
          </a:prstGeom>
          <a:solidFill>
            <a:srgbClr val="00C8E0"/>
          </a:solidFill>
          <a:ln/>
        </p:spPr>
      </p:sp>
      <p:pic>
        <p:nvPicPr>
          <p:cNvPr id="19" name="Image 0" descr="/home/claude/pdf_imgs/img-0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347472"/>
            <a:ext cx="1508760" cy="150876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532120" y="1993392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21" name="Shape 18"/>
          <p:cNvSpPr/>
          <p:nvPr/>
        </p:nvSpPr>
        <p:spPr>
          <a:xfrm>
            <a:off x="6309360" y="2578608"/>
            <a:ext cx="1828800" cy="36576"/>
          </a:xfrm>
          <a:prstGeom prst="rect">
            <a:avLst/>
          </a:prstGeom>
          <a:solidFill>
            <a:srgbClr val="00C8E0"/>
          </a:solidFill>
          <a:ln/>
        </p:spPr>
      </p:sp>
      <p:sp>
        <p:nvSpPr>
          <p:cNvPr id="22" name="Text 19"/>
          <p:cNvSpPr/>
          <p:nvPr/>
        </p:nvSpPr>
        <p:spPr>
          <a:xfrm>
            <a:off x="5532120" y="269748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B3D3"/>
                </a:solidFill>
              </a:rPr>
              <a:t>Presented By: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577840" y="301752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Yug Ramteke (25109002)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577840" y="331012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Vaibhav Ghode (25109004)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5577840" y="360273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Tushar Agashe (25109006)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5577840" y="389534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Parth Janai (25109007)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5577840" y="4279392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8E0"/>
                </a:solidFill>
              </a:rPr>
              <a:t>Guide: Prof. Tushar Aneyrao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577840" y="4553712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B3D3"/>
                </a:solidFill>
              </a:rPr>
              <a:t>Dept. of Industrial IoT, SVPCET Nagpur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Industrial Air Quality &amp; Leakage Guard</dc:title>
  <dc:subject>PptxGenJS Presentation</dc:subject>
  <dc:creator>SVPCET Nagpur - IIoT Dept</dc:creator>
  <cp:lastModifiedBy>SVPCET Nagpur - IIoT Dept</cp:lastModifiedBy>
  <cp:revision>1</cp:revision>
  <dcterms:created xsi:type="dcterms:W3CDTF">2026-04-20T08:51:20Z</dcterms:created>
  <dcterms:modified xsi:type="dcterms:W3CDTF">2026-04-20T08:51:20Z</dcterms:modified>
</cp:coreProperties>
</file>